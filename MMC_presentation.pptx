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59" r:id="rId4"/>
    <p:sldId id="268" r:id="rId5"/>
    <p:sldId id="269" r:id="rId6"/>
    <p:sldId id="270" r:id="rId7"/>
    <p:sldId id="273" r:id="rId8"/>
    <p:sldId id="272" r:id="rId9"/>
    <p:sldId id="271" r:id="rId10"/>
  </p:sldIdLst>
  <p:sldSz cx="9144000" cy="5143500" type="screen16x9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BA0128-31A8-4EDB-8E3B-B04A8E53E062}">
  <a:tblStyle styleId="{1ABA0128-31A8-4EDB-8E3B-B04A8E53E0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dacc448f9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dacc448f9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dacc448f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dacc448f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dacc448f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dacc448f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1680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dacc448f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dacc448f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7717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dacc448f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dacc448f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8340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dacc448f9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dacc448f9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8976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dacc448f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dacc448f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636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dacc448f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dacc448f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6992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66834B-7FEE-FAB2-563A-AB7019DB861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86750" y="49276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364250" y="1343400"/>
            <a:ext cx="5468100" cy="12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Mismatch%Calculator</a:t>
            </a:r>
            <a:endParaRPr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311700" y="2777876"/>
            <a:ext cx="8520600" cy="12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A presentation on the AI analysis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of the </a:t>
            </a:r>
            <a:r>
              <a:rPr lang="en-US" sz="2000" i="1" dirty="0"/>
              <a:t>Global Test Report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"/>
          </p:nvPr>
        </p:nvSpPr>
        <p:spPr>
          <a:xfrm>
            <a:off x="311700" y="4185975"/>
            <a:ext cx="8520600" cy="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/>
              <a:t>Presented by,</a:t>
            </a:r>
            <a:endParaRPr sz="1600" b="1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rgbClr val="B7B7B7"/>
                </a:solidFill>
              </a:rPr>
              <a:t>Kanishk</a:t>
            </a:r>
            <a:endParaRPr sz="1600" i="1" dirty="0">
              <a:solidFill>
                <a:srgbClr val="B7B7B7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DEB3C2-B635-304F-E0AE-15D5C1A8CE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67276793-E963-1989-3D14-794F26EA519C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1;p23">
            <a:extLst>
              <a:ext uri="{FF2B5EF4-FFF2-40B4-BE49-F238E27FC236}">
                <a16:creationId xmlns:a16="http://schemas.microsoft.com/office/drawing/2014/main" id="{5B9EA2B5-CD96-B2C4-AD13-516CBA7C0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2550" y="1485048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4605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b="1" dirty="0"/>
              <a:t>Threshold meanings: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dirty="0" err="1"/>
              <a:t>clip_threshold_investigate</a:t>
            </a:r>
            <a:r>
              <a:rPr lang="en-US" dirty="0"/>
              <a:t>: CLIP mismatch percentage above which status becomes 'Investigate'.</a:t>
            </a:r>
          </a:p>
          <a:p>
            <a:pPr lvl="1" indent="-311150">
              <a:buSzPts val="1300"/>
              <a:buFont typeface="Courier New" panose="02070309020205020404" pitchFamily="49" charset="0"/>
              <a:buChar char="o"/>
            </a:pPr>
            <a:r>
              <a:rPr lang="en-US" dirty="0"/>
              <a:t>'Investigate' refers to image pairs with noticeable but not severe differences (ideally between 3–8%).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dirty="0" err="1"/>
              <a:t>clip_threshold_nok</a:t>
            </a:r>
            <a:r>
              <a:rPr lang="en-US" dirty="0"/>
              <a:t>: CLIP mismatch percentage above which status becomes 'NOK'.</a:t>
            </a:r>
          </a:p>
          <a:p>
            <a:pPr lvl="1" indent="-311150">
              <a:buSzPts val="1300"/>
              <a:buFont typeface="Courier New" panose="02070309020205020404" pitchFamily="49" charset="0"/>
              <a:buChar char="o"/>
            </a:pPr>
            <a:r>
              <a:rPr lang="en-US" dirty="0"/>
              <a:t>NOK' refers to image pairs with significant mismatches (ideally greater than 8%).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dirty="0" err="1"/>
              <a:t>segment_threshold_investigate</a:t>
            </a:r>
            <a:r>
              <a:rPr lang="en-US" dirty="0"/>
              <a:t>: Segment-wise max mismatch percentage above which status becomes 'Investigate'.</a:t>
            </a:r>
          </a:p>
          <a:p>
            <a:pPr marL="774700" lvl="1" indent="-171450">
              <a:buSzPts val="1300"/>
              <a:buFont typeface="Courier New" panose="02070309020205020404" pitchFamily="49" charset="0"/>
              <a:buChar char="o"/>
            </a:pPr>
            <a:r>
              <a:rPr lang="en-US" dirty="0"/>
              <a:t>The images are divided into smaller segments for detailed (tell-tale level) comparison.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dirty="0"/>
              <a:t>This threshold applies to the highest mismatch observed among those segments (ideally between 3–8%).</a:t>
            </a:r>
          </a:p>
          <a:p>
            <a:pPr lvl="1" indent="-311150">
              <a:buSzPts val="1300"/>
              <a:buFont typeface="Courier New" panose="02070309020205020404" pitchFamily="49" charset="0"/>
              <a:buChar char="o"/>
            </a:pPr>
            <a:r>
              <a:rPr lang="en-US" dirty="0" err="1"/>
              <a:t>segment_threshold_nok</a:t>
            </a:r>
            <a:r>
              <a:rPr lang="en-US" dirty="0"/>
              <a:t>: Segment-wise max mismatch percentage above which status becomes 'NOK'.</a:t>
            </a:r>
          </a:p>
          <a:p>
            <a:pPr lvl="1" indent="-311150">
              <a:buSzPts val="1300"/>
              <a:buFont typeface="Courier New" panose="02070309020205020404" pitchFamily="49" charset="0"/>
              <a:buChar char="o"/>
            </a:pPr>
            <a:r>
              <a:rPr lang="en-US" dirty="0"/>
              <a:t>Indicates major differences at the segment level (ideally greater than 8%).</a:t>
            </a:r>
          </a:p>
          <a:p>
            <a:pPr marL="14605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lang="en-US" dirty="0"/>
          </a:p>
          <a:p>
            <a:pPr marL="14605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dirty="0"/>
              <a:t>Ideal threshold values: Investigate = </a:t>
            </a:r>
            <a:r>
              <a:rPr lang="en-US" b="1" dirty="0"/>
              <a:t>3%</a:t>
            </a:r>
            <a:r>
              <a:rPr lang="en-US" dirty="0"/>
              <a:t>, NOK = </a:t>
            </a:r>
            <a:r>
              <a:rPr lang="en-US" b="1" dirty="0"/>
              <a:t>8–10%</a:t>
            </a:r>
          </a:p>
        </p:txBody>
      </p:sp>
      <p:sp>
        <p:nvSpPr>
          <p:cNvPr id="5" name="Google Shape;157;p16">
            <a:extLst>
              <a:ext uri="{FF2B5EF4-FFF2-40B4-BE49-F238E27FC236}">
                <a16:creationId xmlns:a16="http://schemas.microsoft.com/office/drawing/2014/main" id="{1E3184F4-896A-2933-93BF-87ABE8B5C4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3750" y="696258"/>
            <a:ext cx="7038900" cy="589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0" i="0" dirty="0">
                <a:solidFill>
                  <a:srgbClr val="FFFFF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Statuses and Meanings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5FE188-2571-CF2B-0418-1636401BA4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9A51C00-8A7D-FFB1-07E3-B39E91B3B985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1283750" y="696258"/>
            <a:ext cx="7038900" cy="589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bg1"/>
                </a:solidFill>
              </a:rPr>
              <a:t>Sample</a:t>
            </a:r>
            <a:r>
              <a:rPr lang="en" b="1" dirty="0">
                <a:solidFill>
                  <a:srgbClr val="00B050"/>
                </a:solidFill>
              </a:rPr>
              <a:t> OK</a:t>
            </a:r>
            <a:r>
              <a:rPr lang="en" dirty="0"/>
              <a:t> Cases</a:t>
            </a:r>
            <a:endParaRPr dirty="0"/>
          </a:p>
        </p:txBody>
      </p:sp>
      <p:graphicFrame>
        <p:nvGraphicFramePr>
          <p:cNvPr id="160" name="Google Shape;160;p16"/>
          <p:cNvGraphicFramePr/>
          <p:nvPr>
            <p:extLst>
              <p:ext uri="{D42A27DB-BD31-4B8C-83A1-F6EECF244321}">
                <p14:modId xmlns:p14="http://schemas.microsoft.com/office/powerpoint/2010/main" val="506401215"/>
              </p:ext>
            </p:extLst>
          </p:nvPr>
        </p:nvGraphicFramePr>
        <p:xfrm>
          <a:off x="880050" y="4302950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0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0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0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160;p16">
            <a:extLst>
              <a:ext uri="{FF2B5EF4-FFF2-40B4-BE49-F238E27FC236}">
                <a16:creationId xmlns:a16="http://schemas.microsoft.com/office/drawing/2014/main" id="{8A9A3B78-E63F-1D2E-2F4C-70AA187255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2407273"/>
              </p:ext>
            </p:extLst>
          </p:nvPr>
        </p:nvGraphicFramePr>
        <p:xfrm>
          <a:off x="880050" y="2514566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0.02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0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0.06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E1B4D33F-12EE-D4A0-E0A0-380CC60A6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899" y="1496245"/>
            <a:ext cx="1076325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E970728-A9A0-7085-04B6-65A2BB3B2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777" y="1496245"/>
            <a:ext cx="1076325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04F7F97-65DA-5F3B-01D6-80BAA5787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35" y="3001501"/>
            <a:ext cx="3078866" cy="114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8683181-F178-C035-88F0-7DE13F649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600" y="3001501"/>
            <a:ext cx="3078866" cy="114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B71B1-0D9D-E33F-E63E-AA38940A9A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8718420-DFB1-ED8B-E224-BD407B1B8F56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1283750" y="696258"/>
            <a:ext cx="7038900" cy="589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bg1"/>
                </a:solidFill>
              </a:rPr>
              <a:t>Sample</a:t>
            </a:r>
            <a:r>
              <a:rPr lang="en" b="1" dirty="0">
                <a:solidFill>
                  <a:srgbClr val="00B050"/>
                </a:solidFill>
              </a:rPr>
              <a:t> </a:t>
            </a:r>
            <a:r>
              <a:rPr lang="en" b="1" dirty="0">
                <a:solidFill>
                  <a:srgbClr val="FF0000"/>
                </a:solidFill>
              </a:rPr>
              <a:t>NOK</a:t>
            </a:r>
            <a:r>
              <a:rPr lang="en" dirty="0"/>
              <a:t> Cases</a:t>
            </a:r>
            <a:endParaRPr dirty="0"/>
          </a:p>
        </p:txBody>
      </p:sp>
      <p:graphicFrame>
        <p:nvGraphicFramePr>
          <p:cNvPr id="160" name="Google Shape;160;p16"/>
          <p:cNvGraphicFramePr/>
          <p:nvPr>
            <p:extLst>
              <p:ext uri="{D42A27DB-BD31-4B8C-83A1-F6EECF244321}">
                <p14:modId xmlns:p14="http://schemas.microsoft.com/office/powerpoint/2010/main" val="3616208421"/>
              </p:ext>
            </p:extLst>
          </p:nvPr>
        </p:nvGraphicFramePr>
        <p:xfrm>
          <a:off x="880050" y="4302950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9.63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0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9.32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Google Shape;160;p16">
            <a:extLst>
              <a:ext uri="{FF2B5EF4-FFF2-40B4-BE49-F238E27FC236}">
                <a16:creationId xmlns:a16="http://schemas.microsoft.com/office/drawing/2014/main" id="{CE64134A-C38F-792E-EEEC-FFD09BD4FF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9096086"/>
              </p:ext>
            </p:extLst>
          </p:nvPr>
        </p:nvGraphicFramePr>
        <p:xfrm>
          <a:off x="880050" y="2514566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0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0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11.24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49870000-91D4-CF58-9A3F-8F436809C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474" y="3025604"/>
            <a:ext cx="1735221" cy="1101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B9DE1FC-0990-7978-0C0A-D085E3D29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307" y="3025604"/>
            <a:ext cx="1735222" cy="1101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4B31746C-E0F8-080C-9533-6E45F593C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429" y="1285660"/>
            <a:ext cx="2807714" cy="104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E99EC4D1-6300-1AEE-0CBD-ACD735A0F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857" y="1285660"/>
            <a:ext cx="2807714" cy="104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840E01-D133-6948-B7BC-1AEB301C38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BC86857-96B6-5EA7-EBCE-D0CB65B0943A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083847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1283750" y="696258"/>
            <a:ext cx="7038900" cy="589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bg1"/>
                </a:solidFill>
              </a:rPr>
              <a:t>Sample</a:t>
            </a:r>
            <a:r>
              <a:rPr lang="en" b="1" dirty="0">
                <a:solidFill>
                  <a:srgbClr val="00B050"/>
                </a:solidFill>
              </a:rPr>
              <a:t> </a:t>
            </a:r>
            <a:r>
              <a:rPr lang="en" b="1" dirty="0">
                <a:solidFill>
                  <a:schemeClr val="accent4">
                    <a:lumMod val="75000"/>
                  </a:schemeClr>
                </a:solidFill>
              </a:rPr>
              <a:t>Investigate</a:t>
            </a:r>
            <a:r>
              <a:rPr lang="en" dirty="0"/>
              <a:t> Cases</a:t>
            </a:r>
            <a:endParaRPr dirty="0"/>
          </a:p>
        </p:txBody>
      </p:sp>
      <p:graphicFrame>
        <p:nvGraphicFramePr>
          <p:cNvPr id="160" name="Google Shape;160;p16"/>
          <p:cNvGraphicFramePr/>
          <p:nvPr>
            <p:extLst>
              <p:ext uri="{D42A27DB-BD31-4B8C-83A1-F6EECF244321}">
                <p14:modId xmlns:p14="http://schemas.microsoft.com/office/powerpoint/2010/main" val="3673370256"/>
              </p:ext>
            </p:extLst>
          </p:nvPr>
        </p:nvGraphicFramePr>
        <p:xfrm>
          <a:off x="880050" y="4302950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5.47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0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9.5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Google Shape;160;p16">
            <a:extLst>
              <a:ext uri="{FF2B5EF4-FFF2-40B4-BE49-F238E27FC236}">
                <a16:creationId xmlns:a16="http://schemas.microsoft.com/office/drawing/2014/main" id="{25FD0FBA-84F5-BD07-73D4-7F41D99C19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1710174"/>
              </p:ext>
            </p:extLst>
          </p:nvPr>
        </p:nvGraphicFramePr>
        <p:xfrm>
          <a:off x="880050" y="2514566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0.5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0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3.45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54" name="Picture 6">
            <a:extLst>
              <a:ext uri="{FF2B5EF4-FFF2-40B4-BE49-F238E27FC236}">
                <a16:creationId xmlns:a16="http://schemas.microsoft.com/office/drawing/2014/main" id="{1A376271-35BF-2F52-EB2F-DB0DF95AC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345" y="1285660"/>
            <a:ext cx="1186755" cy="107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361C3C73-24BC-FC20-F9F8-9CF52E3C9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902" y="1285660"/>
            <a:ext cx="1186755" cy="107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396246C4-6A94-A18B-DB6E-E8CE77588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343" y="3023288"/>
            <a:ext cx="1160758" cy="1055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C4517D93-B38D-7D4F-3A48-5B0F7139C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900" y="3023288"/>
            <a:ext cx="1160758" cy="1055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836DAC-2AE5-F553-3472-74EC9CCCAD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8266ACB-B433-0852-D55F-03FD6A0FD971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95055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1283750" y="696258"/>
            <a:ext cx="7038900" cy="589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bg1"/>
                </a:solidFill>
              </a:rPr>
              <a:t>Sample</a:t>
            </a:r>
            <a:r>
              <a:rPr lang="en" b="1" dirty="0">
                <a:solidFill>
                  <a:srgbClr val="00B050"/>
                </a:solidFill>
              </a:rPr>
              <a:t> </a:t>
            </a:r>
            <a:r>
              <a:rPr lang="en" b="1" dirty="0">
                <a:solidFill>
                  <a:schemeClr val="bg2">
                    <a:lumMod val="75000"/>
                  </a:schemeClr>
                </a:solidFill>
              </a:rPr>
              <a:t>Faulty</a:t>
            </a:r>
            <a:r>
              <a:rPr lang="en" dirty="0"/>
              <a:t> Cases</a:t>
            </a:r>
            <a:endParaRPr dirty="0"/>
          </a:p>
        </p:txBody>
      </p:sp>
      <p:graphicFrame>
        <p:nvGraphicFramePr>
          <p:cNvPr id="160" name="Google Shape;160;p16"/>
          <p:cNvGraphicFramePr/>
          <p:nvPr>
            <p:extLst>
              <p:ext uri="{D42A27DB-BD31-4B8C-83A1-F6EECF244321}">
                <p14:modId xmlns:p14="http://schemas.microsoft.com/office/powerpoint/2010/main" val="1273011251"/>
              </p:ext>
            </p:extLst>
          </p:nvPr>
        </p:nvGraphicFramePr>
        <p:xfrm>
          <a:off x="880050" y="4302950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NA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NA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NA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Google Shape;160;p16">
            <a:extLst>
              <a:ext uri="{FF2B5EF4-FFF2-40B4-BE49-F238E27FC236}">
                <a16:creationId xmlns:a16="http://schemas.microsoft.com/office/drawing/2014/main" id="{86F48494-7480-B9AA-BEF9-34DAC37D2B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5067568"/>
              </p:ext>
            </p:extLst>
          </p:nvPr>
        </p:nvGraphicFramePr>
        <p:xfrm>
          <a:off x="880050" y="2514566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NA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8.8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NA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CEE7A7E5-2091-B842-0476-D2286199F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200" y="1519420"/>
            <a:ext cx="609600" cy="7239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5FBCA2D-B705-F8BA-94DB-2B43359BE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251" y="1624195"/>
            <a:ext cx="590550" cy="619125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1E3186-2C63-8FE6-0F40-009AF44FF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8260" y="3088536"/>
            <a:ext cx="2347480" cy="1050188"/>
          </a:xfrm>
          <a:prstGeom prst="rect">
            <a:avLst/>
          </a:prstGeom>
        </p:spPr>
      </p:pic>
      <p:sp>
        <p:nvSpPr>
          <p:cNvPr id="6" name="Flowchart: Sequential Access Storage 5">
            <a:extLst>
              <a:ext uri="{FF2B5EF4-FFF2-40B4-BE49-F238E27FC236}">
                <a16:creationId xmlns:a16="http://schemas.microsoft.com/office/drawing/2014/main" id="{5A233AB0-3A3A-D6F3-9CEF-D82CC91C4A80}"/>
              </a:ext>
            </a:extLst>
          </p:cNvPr>
          <p:cNvSpPr/>
          <p:nvPr/>
        </p:nvSpPr>
        <p:spPr>
          <a:xfrm>
            <a:off x="2105893" y="3311236"/>
            <a:ext cx="1219199" cy="531640"/>
          </a:xfrm>
          <a:prstGeom prst="flowChartMagneticTap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Image is missing!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73D843-CEA4-6D62-A390-6E8E589EB5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86A4F27-F93F-3BC0-CF00-C093FC2DA5C9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33481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1;p23">
            <a:extLst>
              <a:ext uri="{FF2B5EF4-FFF2-40B4-BE49-F238E27FC236}">
                <a16:creationId xmlns:a16="http://schemas.microsoft.com/office/drawing/2014/main" id="{5B9EA2B5-CD96-B2C4-AD13-516CBA7C0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2550" y="1485048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88950" lvl="0" indent="-342900" algn="l" rtl="0">
              <a:spcBef>
                <a:spcPts val="0"/>
              </a:spcBef>
              <a:spcAft>
                <a:spcPts val="0"/>
              </a:spcAft>
              <a:buSzPts val="1300"/>
              <a:buFont typeface="+mj-lt"/>
              <a:buAutoNum type="arabicPeriod"/>
            </a:pPr>
            <a:r>
              <a:rPr lang="en-US" b="1" dirty="0"/>
              <a:t>If images are not comparable → Status = Faulty (e.g., different sizes)</a:t>
            </a:r>
          </a:p>
          <a:p>
            <a:pPr marL="488950" lvl="0" indent="-342900" algn="l" rtl="0">
              <a:spcBef>
                <a:spcPts val="0"/>
              </a:spcBef>
              <a:spcAft>
                <a:spcPts val="0"/>
              </a:spcAft>
              <a:buSzPts val="1300"/>
              <a:buFont typeface="+mj-lt"/>
              <a:buAutoNum type="arabicPeriod"/>
            </a:pPr>
            <a:r>
              <a:rPr lang="en-US" b="1" dirty="0"/>
              <a:t>If overall CLIP mismatch &gt; NOK threshold → Status = NOK</a:t>
            </a:r>
          </a:p>
          <a:p>
            <a:pPr marL="488950" lvl="0" indent="-342900" algn="l" rtl="0">
              <a:spcBef>
                <a:spcPts val="0"/>
              </a:spcBef>
              <a:spcAft>
                <a:spcPts val="0"/>
              </a:spcAft>
              <a:buSzPts val="1300"/>
              <a:buFont typeface="+mj-lt"/>
              <a:buAutoNum type="arabicPeriod"/>
            </a:pPr>
            <a:r>
              <a:rPr lang="en-US" b="1" dirty="0"/>
              <a:t>If CLIP mismatch &gt; Investigate threshold:</a:t>
            </a:r>
          </a:p>
          <a:p>
            <a:pPr marL="946150" lvl="1" indent="-342900">
              <a:buSzPts val="1300"/>
              <a:buFont typeface="Courier New" panose="02070309020205020404" pitchFamily="49" charset="0"/>
              <a:buChar char="o"/>
            </a:pPr>
            <a:r>
              <a:rPr lang="en-US" b="1" dirty="0"/>
              <a:t>If only one segment is very different (striking difference) → NOK</a:t>
            </a:r>
          </a:p>
          <a:p>
            <a:pPr marL="946150" lvl="1" indent="-342900">
              <a:buSzPts val="1300"/>
              <a:buFont typeface="Courier New" panose="02070309020205020404" pitchFamily="49" charset="0"/>
              <a:buChar char="o"/>
            </a:pPr>
            <a:r>
              <a:rPr lang="en-US" b="1" dirty="0"/>
              <a:t>Else → Investigate</a:t>
            </a:r>
          </a:p>
          <a:p>
            <a:pPr marL="488950" indent="-342900">
              <a:buFont typeface="+mj-lt"/>
              <a:buAutoNum type="arabicPeriod"/>
            </a:pPr>
            <a:r>
              <a:rPr lang="en-US" b="1" dirty="0"/>
              <a:t>If CLIP mismatch ≤ Investigate threshold:</a:t>
            </a:r>
          </a:p>
          <a:p>
            <a:pPr marL="946150" lvl="1" indent="-342900">
              <a:buFont typeface="Courier New" panose="02070309020205020404" pitchFamily="49" charset="0"/>
              <a:buChar char="o"/>
            </a:pPr>
            <a:r>
              <a:rPr lang="en-US" b="1" dirty="0"/>
              <a:t>If one striking segment is found → NOK</a:t>
            </a:r>
          </a:p>
          <a:p>
            <a:pPr marL="946150" lvl="1" indent="-342900">
              <a:buFont typeface="Courier New" panose="02070309020205020404" pitchFamily="49" charset="0"/>
              <a:buChar char="o"/>
            </a:pPr>
            <a:r>
              <a:rPr lang="en-US" b="1" dirty="0"/>
              <a:t>Else if segment mismatch &gt; NOK threshold → Investigate</a:t>
            </a:r>
          </a:p>
          <a:p>
            <a:pPr marL="946150" lvl="1" indent="-342900">
              <a:buFont typeface="Courier New" panose="02070309020205020404" pitchFamily="49" charset="0"/>
              <a:buChar char="o"/>
            </a:pPr>
            <a:r>
              <a:rPr lang="en-US" b="1" dirty="0"/>
              <a:t>Else if segment mismatch &gt; Investigate threshold → Investigate</a:t>
            </a:r>
          </a:p>
          <a:p>
            <a:pPr marL="946150" lvl="1" indent="-342900">
              <a:buFont typeface="Courier New" panose="02070309020205020404" pitchFamily="49" charset="0"/>
              <a:buChar char="o"/>
            </a:pPr>
            <a:r>
              <a:rPr lang="en-US" b="1" dirty="0"/>
              <a:t>Else → OK</a:t>
            </a:r>
          </a:p>
        </p:txBody>
      </p:sp>
      <p:sp>
        <p:nvSpPr>
          <p:cNvPr id="5" name="Google Shape;157;p16">
            <a:extLst>
              <a:ext uri="{FF2B5EF4-FFF2-40B4-BE49-F238E27FC236}">
                <a16:creationId xmlns:a16="http://schemas.microsoft.com/office/drawing/2014/main" id="{1E3184F4-896A-2933-93BF-87ABE8B5C4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3750" y="696258"/>
            <a:ext cx="7038900" cy="589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FFFFF"/>
                </a:solidFill>
                <a:latin typeface="Montserrat" panose="00000500000000000000" pitchFamily="2" charset="0"/>
              </a:rPr>
              <a:t>Comparison &amp; Status Logic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9F582-5307-881D-4526-F4AB2B2E66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CCC3240-175A-CB9D-B7B4-2ED048096B3A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198122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1283750" y="696258"/>
            <a:ext cx="7038900" cy="589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Analysis Summary over </a:t>
            </a:r>
            <a:r>
              <a:rPr lang="en-US" sz="2400" b="1" i="1" dirty="0"/>
              <a:t>C1AREG_10i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4BBA60-05D3-A978-BAF1-47F26C2C0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791167"/>
              </p:ext>
            </p:extLst>
          </p:nvPr>
        </p:nvGraphicFramePr>
        <p:xfrm>
          <a:off x="2724150" y="1889413"/>
          <a:ext cx="3695700" cy="1854200"/>
        </p:xfrm>
        <a:graphic>
          <a:graphicData uri="http://schemas.openxmlformats.org/drawingml/2006/table">
            <a:tbl>
              <a:tblPr firstRow="1" bandRow="1">
                <a:tableStyleId>{1ABA0128-31A8-4EDB-8E3B-B04A8E53E062}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311296608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660455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369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rgbClr val="008000"/>
                          </a:solidFill>
                          <a:effectLst/>
                        </a:rPr>
                        <a:t>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2967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46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NOK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753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657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A500"/>
                          </a:solidFill>
                          <a:effectLst/>
                        </a:rPr>
                        <a:t>Investigate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912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860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808080"/>
                          </a:solidFill>
                          <a:effectLst/>
                        </a:rPr>
                        <a:t>Faulty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367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53438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17503A-2EF2-CE2A-C7BF-B3966B3809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7E2C577-28C9-98FC-65D7-46A562BEBEEF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011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1052550" y="2277049"/>
            <a:ext cx="7038900" cy="589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Thankyou</a:t>
            </a:r>
            <a:endParaRPr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633EB1-D887-E3A1-305E-5387343F00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FB67E52-4C1D-8B54-64AE-97B8EC1467BF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49115687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474</Words>
  <Application>Microsoft Office PowerPoint</Application>
  <PresentationFormat>On-screen Show (16:9)</PresentationFormat>
  <Paragraphs>88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Montserrat</vt:lpstr>
      <vt:lpstr>Arial</vt:lpstr>
      <vt:lpstr>Lato</vt:lpstr>
      <vt:lpstr>Courier New</vt:lpstr>
      <vt:lpstr>Focus</vt:lpstr>
      <vt:lpstr>Mismatch%Calculator</vt:lpstr>
      <vt:lpstr>Statuses and Meanings</vt:lpstr>
      <vt:lpstr>Sample OK Cases</vt:lpstr>
      <vt:lpstr>Sample NOK Cases</vt:lpstr>
      <vt:lpstr>Sample Investigate Cases</vt:lpstr>
      <vt:lpstr>Sample Faulty Cases</vt:lpstr>
      <vt:lpstr>Comparison &amp; Status Logic</vt:lpstr>
      <vt:lpstr>Analysis Summary over C1AREG_10i 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Kanishk Mishra</cp:lastModifiedBy>
  <cp:revision>5</cp:revision>
  <dcterms:modified xsi:type="dcterms:W3CDTF">2025-11-04T09:40:14Z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Focus:3</vt:lpwstr>
  </property>
  <property fmtid="{D5CDD505-2E9C-101B-9397-08002B2CF9AE}" pid="3" name="ClassificationContentMarkingFooterText">
    <vt:lpwstr>Confidential C</vt:lpwstr>
  </property>
</Properties>
</file>